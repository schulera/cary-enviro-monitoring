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1ec02d87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1ec02d87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Photo: Fern Glen at the Cary Institute of Ecosystem Studies, Millbrook, NY, USA.  Credit: Lisa Dellwo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52525"/>
                </a:solidFill>
                <a:highlight>
                  <a:srgbClr val="F8F8F8"/>
                </a:highlight>
              </a:rPr>
              <a:t>Cary Institute of Ecosystem Studies Environmental Monitoring Program is a long-term data collection program.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1ec02d877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1ec02d877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Photo of red trillium at the Cary Institute.  Credit: Lisa Dellwo. 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1ec02d877_2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1ec02d877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1ec02d877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d1ec02d877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1ec02d877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1ec02d877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1ec02d877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d1ec02d877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77900" y="445025"/>
            <a:ext cx="8520600" cy="11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620">
                <a:solidFill>
                  <a:srgbClr val="38761D"/>
                </a:solidFill>
              </a:rPr>
              <a:t>Temperature and seasonal patterns at the Cary Institute: What’s Changing?</a:t>
            </a:r>
            <a:endParaRPr sz="3500">
              <a:solidFill>
                <a:srgbClr val="38761D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518950"/>
            <a:ext cx="8520600" cy="35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Photo of the Fern Glen at the Cary Institute of Ecosystem Studies, Millbrook, NY, USA.  Credit: Lisa Dellwo" id="56" name="Google Shape;56;p13" title="Fern_Glen_LD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500" y="1548300"/>
            <a:ext cx="5256852" cy="3490899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6035100" y="4231000"/>
            <a:ext cx="2797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Amy Schuler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March 2026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Yale Environmental Data Science Certificate Program 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28350" y="63750"/>
            <a:ext cx="8803800" cy="5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20">
                <a:solidFill>
                  <a:srgbClr val="274E13"/>
                </a:solidFill>
              </a:rPr>
              <a:t>Why do we care?</a:t>
            </a:r>
            <a:endParaRPr sz="2220">
              <a:solidFill>
                <a:srgbClr val="274E13"/>
              </a:solidFill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235200" y="602250"/>
            <a:ext cx="4447800" cy="23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500">
                <a:solidFill>
                  <a:schemeClr val="dk1"/>
                </a:solidFill>
              </a:rPr>
              <a:t>The 2,000 acre property at the Cary Institute of Ecosystem Studies is used for research, education, and public access. </a:t>
            </a:r>
            <a:r>
              <a:rPr lang="en" sz="1500">
                <a:solidFill>
                  <a:schemeClr val="dk1"/>
                </a:solidFill>
              </a:rPr>
              <a:t>The grounds, waterways, trails and roads need to be safe and accessible for all uses.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500">
                <a:solidFill>
                  <a:schemeClr val="dk1"/>
                </a:solidFill>
              </a:rPr>
              <a:t>Who cares about </a:t>
            </a:r>
            <a:r>
              <a:rPr lang="en" sz="1500">
                <a:solidFill>
                  <a:schemeClr val="dk1"/>
                </a:solidFill>
              </a:rPr>
              <a:t>warming temperatures and seasonal changes?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➔"/>
            </a:pPr>
            <a:r>
              <a:rPr lang="en" sz="1500">
                <a:solidFill>
                  <a:schemeClr val="dk1"/>
                </a:solidFill>
              </a:rPr>
              <a:t>Property managers and operations crews, when </a:t>
            </a:r>
            <a:r>
              <a:rPr lang="en" sz="1500">
                <a:solidFill>
                  <a:schemeClr val="dk1"/>
                </a:solidFill>
              </a:rPr>
              <a:t>planning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chemeClr val="dk1"/>
                </a:solidFill>
              </a:rPr>
              <a:t>work on trails, roads, bridges, buildings and other infrastructure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➔"/>
            </a:pPr>
            <a:r>
              <a:rPr lang="en" sz="1500">
                <a:solidFill>
                  <a:schemeClr val="dk1"/>
                </a:solidFill>
              </a:rPr>
              <a:t>Researchers, students, and visitors, when siting field locations and timing their work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➔"/>
            </a:pPr>
            <a:r>
              <a:rPr lang="en" sz="1500">
                <a:solidFill>
                  <a:schemeClr val="dk1"/>
                </a:solidFill>
              </a:rPr>
              <a:t>Educators and naturalists, who plan and coordinate outdoor programs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➔"/>
            </a:pPr>
            <a:r>
              <a:rPr lang="en" sz="1500">
                <a:solidFill>
                  <a:schemeClr val="dk1"/>
                </a:solidFill>
              </a:rPr>
              <a:t>Hunters, anglers, and other recreational users who use paved and unpaved access roads and trails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69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69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6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7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00"/>
          </a:p>
        </p:txBody>
      </p:sp>
      <p:sp>
        <p:nvSpPr>
          <p:cNvPr id="64" name="Google Shape;64;p14"/>
          <p:cNvSpPr txBox="1"/>
          <p:nvPr>
            <p:ph idx="2" type="body"/>
          </p:nvPr>
        </p:nvSpPr>
        <p:spPr>
          <a:xfrm>
            <a:off x="4847350" y="507775"/>
            <a:ext cx="3984900" cy="40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Density plot entitled &quot;There is a shift toward warmer average temperatures&quot;.  Caption reads: The distribution has shifted toward warmer temperatures in the more recent period.  Mean daily temperature increased from 9.64 degrees C to 10.09 degrees C. " id="65" name="Google Shape;65;p14" title="shifti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3413" y="843075"/>
            <a:ext cx="3131377" cy="2348525"/>
          </a:xfrm>
          <a:prstGeom prst="rect">
            <a:avLst/>
          </a:prstGeom>
          <a:noFill/>
          <a:ln>
            <a:noFill/>
          </a:ln>
        </p:spPr>
      </p:pic>
      <p:sp>
        <p:nvSpPr>
          <p:cNvPr descr="text box containing summary statistics about seasonal patterns at the Cary Institute." id="66" name="Google Shape;66;p14"/>
          <p:cNvSpPr txBox="1"/>
          <p:nvPr/>
        </p:nvSpPr>
        <p:spPr>
          <a:xfrm>
            <a:off x="5017400" y="3290775"/>
            <a:ext cx="3323400" cy="1324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u="sng">
                <a:solidFill>
                  <a:schemeClr val="dk1"/>
                </a:solidFill>
              </a:rPr>
              <a:t>Data</a:t>
            </a:r>
            <a:endParaRPr sz="1000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Daily average, minimum, and maximum temperatures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(° C), 1988-2025, collected as part of the Cary Environmental Monitoring Program.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Cary Institute meteorological station is co-located with a US Climate Reference Network (CRN) station.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420"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Faceted line graph entitled &quot;Seasonal frost temperatures are changing&quot;.  This shows first fall frosts and last spring frost temperatures in degrees Celsius on two separate panels." id="73" name="Google Shape;73;p15" title="all_frost_viz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6350" y="1207250"/>
            <a:ext cx="4293248" cy="32199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hoto of red trillium at the Cary Institute.  Credit: Lisa Dellwo" id="74" name="Google Shape;74;p15" title="red_trillium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694" y="1272850"/>
            <a:ext cx="1448852" cy="2073549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525675" y="3516850"/>
            <a:ext cx="20121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2"/>
                </a:solidFill>
              </a:rPr>
              <a:t>Trillium erectum</a:t>
            </a:r>
            <a:r>
              <a:rPr lang="en" sz="900">
                <a:solidFill>
                  <a:schemeClr val="dk2"/>
                </a:solidFill>
              </a:rPr>
              <a:t>, the red trillium, is a favorite spring ephemeral on the Cary Phenology Trail.</a:t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Line graph entitled &quot;Temperatures are likely to keep rising.&quot;  It shows historical average temperatures for 1988-2025 with a 10 year linear forecast." id="81" name="Google Shape;81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Line graph of historical average temperatures for 1988-2025 with a 10 year linear forecast showing that temperatures are likely to rise over the next 10 years." id="82" name="Google Shape;82;p16" title="forecast_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2600" y="346075"/>
            <a:ext cx="5766948" cy="4325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9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20">
                <a:solidFill>
                  <a:srgbClr val="274E13"/>
                </a:solidFill>
              </a:rPr>
              <a:t>However, e</a:t>
            </a:r>
            <a:r>
              <a:rPr lang="en" sz="2220">
                <a:solidFill>
                  <a:srgbClr val="274E13"/>
                </a:solidFill>
              </a:rPr>
              <a:t>ach month has its own temperature baseline </a:t>
            </a:r>
            <a:endParaRPr sz="2220">
              <a:solidFill>
                <a:srgbClr val="274E1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20">
                <a:solidFill>
                  <a:srgbClr val="274E13"/>
                </a:solidFill>
              </a:rPr>
              <a:t>and its own warming rate</a:t>
            </a:r>
            <a:endParaRPr sz="2220">
              <a:solidFill>
                <a:srgbClr val="274E13"/>
              </a:solidFill>
            </a:endParaRPr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313500"/>
            <a:ext cx="8520600" cy="32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Observed monthly temperatures (points) and fitted linear trends (lines) from an interaction model allowing month-specific temperature trends.  Each panel represents a calendar month." id="89" name="Google Shape;89;p17" title="season_adj_face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8425" y="1313500"/>
            <a:ext cx="4964977" cy="372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4E13"/>
                </a:solidFill>
              </a:rPr>
              <a:t>Key</a:t>
            </a:r>
            <a:r>
              <a:rPr lang="en">
                <a:solidFill>
                  <a:srgbClr val="274E13"/>
                </a:solidFill>
              </a:rPr>
              <a:t> Findings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>
                <a:solidFill>
                  <a:schemeClr val="dk1"/>
                </a:solidFill>
              </a:rPr>
              <a:t>avg_temp_C ~ year </a:t>
            </a:r>
            <a:r>
              <a:rPr lang="en" sz="2000">
                <a:solidFill>
                  <a:schemeClr val="dk1"/>
                </a:solidFill>
              </a:rPr>
              <a:t>simple linear model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➔"/>
            </a:pPr>
            <a:r>
              <a:rPr lang="en" sz="2000">
                <a:solidFill>
                  <a:schemeClr val="dk1"/>
                </a:solidFill>
              </a:rPr>
              <a:t>Simple statistical extrapolation of 38 years of temperature data at Cary indicates a significant warming trend, with an estimated increase of 0.026°C per year (95% CI: 0.006–0.047 °C/year, p = 0.014). 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2000">
                <a:solidFill>
                  <a:schemeClr val="dk1"/>
                </a:solidFill>
              </a:rPr>
              <a:t>avg_temp ~ year * month </a:t>
            </a:r>
            <a:r>
              <a:rPr lang="en" sz="2000">
                <a:solidFill>
                  <a:schemeClr val="dk1"/>
                </a:solidFill>
              </a:rPr>
              <a:t>interaction model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➔"/>
            </a:pPr>
            <a:r>
              <a:rPr lang="en" sz="2000">
                <a:solidFill>
                  <a:schemeClr val="dk1"/>
                </a:solidFill>
              </a:rPr>
              <a:t>This model shows that month-to-month differences in warming rate are suggestive but not statistically strong.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4E13"/>
                </a:solidFill>
              </a:rPr>
              <a:t>Next steps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Seasonal trend decomposition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tease apart long-term trend, seasonal pattern and random noise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Further investigation of frost dates and timing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Exploring relationships between other meteorological variables, including snow data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